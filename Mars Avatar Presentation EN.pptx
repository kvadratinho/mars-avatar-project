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C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3839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Why not send humans right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C1440E"/>
                </a:solidFill>
                <a:latin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Radiation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Beyond Earth's magnetic field, crews are exposed to cosmic rays — raising the risk of cancer and other diseases.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78308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C1440E"/>
                </a:solidFill>
                <a:latin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2+ year mission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The flight, the wait for a return window, the trip home. All that time: food, water, oxygen, medical 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C1440E"/>
                </a:solidFill>
                <a:latin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Human limits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Fatigue, short surface excursions, errors under workload. A robot works without 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78308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C1440E"/>
                </a:solidFill>
                <a:latin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Cost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A crewed program starts at $100B. Robots need no life support and no return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1">
                <a:solidFill>
                  <a:srgbClr val="8A7B6E"/>
                </a:solidFill>
                <a:latin typeface="Calibri"/>
              </a:rPr>
              <a:t>The project doesn't cancel human flights — it prepares safe and affordable ground for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The core barrier: signal delay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2B2520"/>
                </a:solidFill>
                <a:latin typeface="Calibri"/>
              </a:rPr>
              <a:t>A signal travels at the speed of light — and never faster: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C1440E"/>
                </a:solidFill>
                <a:latin typeface="Calibri"/>
              </a:rPr>
              <a:t>4 min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 i="0">
                <a:solidFill>
                  <a:srgbClr val="8A7B6E"/>
                </a:solidFill>
                <a:latin typeface="Calibri"/>
              </a:rPr>
              <a:t>delay, minimum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37744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C1440E"/>
                </a:solidFill>
                <a:latin typeface="Calibri"/>
              </a:rPr>
              <a:t>12 min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 i="0">
                <a:solidFill>
                  <a:srgbClr val="8A7B6E"/>
                </a:solidFill>
                <a:latin typeface="Calibri"/>
              </a:rPr>
              <a:t>delay,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C1440E"/>
                </a:solidFill>
                <a:latin typeface="Calibri"/>
              </a:rPr>
              <a:t>22 min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 i="0">
                <a:solidFill>
                  <a:srgbClr val="8A7B6E"/>
                </a:solidFill>
                <a:latin typeface="Calibri"/>
              </a:rPr>
              <a:t>delay, maximum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377440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C1440E"/>
                </a:solidFill>
                <a:latin typeface="Calibri"/>
              </a:rPr>
              <a:t>Blackouts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 i="0">
                <a:solidFill>
                  <a:srgbClr val="8A7B6E"/>
                </a:solidFill>
                <a:latin typeface="Calibri"/>
              </a:rPr>
              <a:t>during solar conjunction the link is lost entirely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972800" cy="1325880"/>
          </a:xfrm>
          <a:prstGeom prst="roundRect">
            <a:avLst>
              <a:gd name="adj" fmla="val 8000"/>
            </a:avLst>
          </a:prstGeom>
          <a:solidFill>
            <a:srgbClr val="241C17"/>
          </a:solidFill>
          <a:ln>
            <a:noFill/>
          </a:ln>
          <a:effectLst/>
        </p:spPr>
        <p:txBody>
          <a:bodyPr rtlCol="0" anchor="ctr" wrap="square" lIns="310896" rIns="310896" tIns="248716" bIns="248716"/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Real-time “joystick” control of a robot is impossible in principle.</a:t>
            </a:r>
          </a:p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So the system must be designed around the delay, not against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The idea: intelligence on Earth, presence on Mars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84831" cy="23774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146304" rIns="146304" tIns="117043" bIns="117043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1440E"/>
                </a:solidFill>
                <a:latin typeface="Calibri"/>
              </a:rPr>
              <a:t>Operator</a:t>
            </a:r>
          </a:p>
          <a:p>
            <a:pPr algn="ctr">
              <a:lnSpc>
                <a:spcPct val="112000"/>
              </a:lnSpc>
              <a:spcBef>
                <a:spcPts val="7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sets goals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2B2520"/>
                </a:solidFill>
                <a:latin typeface="Calibri"/>
              </a:rPr>
              <a:t>and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9191" y="2788920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0944" y="1828800"/>
            <a:ext cx="2084831" cy="23774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146304" rIns="146304" tIns="117043" bIns="117043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1440E"/>
                </a:solidFill>
                <a:latin typeface="Calibri"/>
              </a:rPr>
              <a:t>Mission Control</a:t>
            </a:r>
          </a:p>
          <a:p>
            <a:pPr algn="ctr">
              <a:lnSpc>
                <a:spcPct val="112000"/>
              </a:lnSpc>
              <a:spcBef>
                <a:spcPts val="7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plans the mission,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2B2520"/>
                </a:solidFill>
                <a:latin typeface="Calibri"/>
              </a:rPr>
              <a:t>builds command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0055" y="2788920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21807" y="1828800"/>
            <a:ext cx="2084831" cy="23774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146304" rIns="146304" tIns="117043" bIns="117043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1440E"/>
                </a:solidFill>
                <a:latin typeface="Calibri"/>
              </a:rPr>
              <a:t>Comms link</a:t>
            </a:r>
          </a:p>
          <a:p>
            <a:pPr algn="ctr">
              <a:lnSpc>
                <a:spcPct val="112000"/>
              </a:lnSpc>
              <a:spcBef>
                <a:spcPts val="7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relay satellites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2B2520"/>
                </a:solidFill>
                <a:latin typeface="Calibri"/>
              </a:rPr>
              <a:t>and laser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9" y="2788920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1" y="1828800"/>
            <a:ext cx="2084831" cy="2377440"/>
          </a:xfrm>
          <a:prstGeom prst="roundRect">
            <a:avLst>
              <a:gd name="adj" fmla="val 8000"/>
            </a:avLst>
          </a:prstGeom>
          <a:solidFill>
            <a:srgbClr val="F3D9C8"/>
          </a:solidFill>
          <a:ln>
            <a:noFill/>
          </a:ln>
          <a:effectLst/>
        </p:spPr>
        <p:txBody>
          <a:bodyPr rtlCol="0" anchor="ctr" wrap="square" lIns="146304" rIns="146304" tIns="117043" bIns="117043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1440E"/>
                </a:solidFill>
                <a:latin typeface="Calibri"/>
              </a:rPr>
              <a:t>Local AI</a:t>
            </a:r>
          </a:p>
          <a:p>
            <a:pPr algn="ctr">
              <a:lnSpc>
                <a:spcPct val="112000"/>
              </a:lnSpc>
              <a:spcBef>
                <a:spcPts val="7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decides the “how”,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2B2520"/>
                </a:solidFill>
                <a:latin typeface="Calibri"/>
              </a:rPr>
              <a:t>compensates for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1783" y="2788920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03535" y="1828800"/>
            <a:ext cx="2084831" cy="23774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146304" rIns="146304" tIns="117043" bIns="117043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1440E"/>
                </a:solidFill>
                <a:latin typeface="Calibri"/>
              </a:rPr>
              <a:t>Robotic avatars</a:t>
            </a:r>
          </a:p>
          <a:p>
            <a:pPr algn="ctr">
              <a:lnSpc>
                <a:spcPct val="112000"/>
              </a:lnSpc>
              <a:spcBef>
                <a:spcPts val="7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explore and build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2B2520"/>
                </a:solidFill>
                <a:latin typeface="Calibri"/>
              </a:rPr>
              <a:t>on the surface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10972800" cy="1325880"/>
          </a:xfrm>
          <a:prstGeom prst="roundRect">
            <a:avLst>
              <a:gd name="adj" fmla="val 8000"/>
            </a:avLst>
          </a:prstGeom>
          <a:solidFill>
            <a:srgbClr val="241C17"/>
          </a:solidFill>
          <a:ln>
            <a:noFill/>
          </a:ln>
          <a:effectLst/>
        </p:spPr>
        <p:txBody>
          <a:bodyPr rtlCol="0" anchor="ctr" wrap="square" lIns="310896" rIns="310896" tIns="248716" bIns="248716"/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“Control Without Presence”: AI does not replace the human — it extends the human's</a:t>
            </a:r>
          </a:p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ability to act across interplanetary distances.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Command goals, not movements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EFECE9"/>
          </a:solidFill>
          <a:ln>
            <a:noFill/>
          </a:ln>
          <a:effectLst/>
        </p:spPr>
        <p:txBody>
          <a:bodyPr rtlCol="0" anchor="t" wrap="square" lIns="201168" rIns="201168" tIns="160934" bIns="160934"/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8A7B6E"/>
                </a:solidFill>
                <a:latin typeface="Calibri"/>
              </a:rPr>
              <a:t>Traditional teleoperation</a:t>
            </a:r>
          </a:p>
          <a:p>
            <a:pPr algn="l">
              <a:lnSpc>
                <a:spcPct val="114000"/>
              </a:lnSpc>
              <a:spcBef>
                <a:spcPts val="4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“Turn right. Drive 20 meters. Raise the arm.”</a:t>
            </a:r>
          </a:p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B2520"/>
                </a:solidFill>
                <a:latin typeface="Calibri"/>
              </a:rPr>
              <a:t>With a 20-minute delay, this simply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3D9C8"/>
          </a:solidFill>
          <a:ln>
            <a:noFill/>
          </a:ln>
          <a:effectLst/>
        </p:spPr>
        <p:txBody>
          <a:bodyPr rtlCol="0" anchor="t" wrap="square" lIns="201168" rIns="201168" tIns="160934" bIns="160934"/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C1440E"/>
                </a:solidFill>
                <a:latin typeface="Calibri"/>
              </a:rPr>
              <a:t>Mars Avatar Project</a:t>
            </a:r>
          </a:p>
          <a:p>
            <a:pPr algn="l">
              <a:lnSpc>
                <a:spcPct val="114000"/>
              </a:lnSpc>
              <a:spcBef>
                <a:spcPts val="4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“Collect a rock sample near the crater.”</a:t>
            </a:r>
          </a:p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B2520"/>
                </a:solidFill>
                <a:latin typeface="Calibri"/>
              </a:rPr>
              <a:t>One goal — the robot plans and executes everything else itself.</a:t>
            </a:r>
          </a:p>
        </p:txBody>
      </p:sp>
      <p:pic>
        <p:nvPicPr>
          <p:cNvPr id="7" name="Picture 6" descr="IMG_3837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21208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006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2B2520"/>
                </a:solidFill>
                <a:latin typeface="Calibri"/>
              </a:rPr>
              <a:t>Given a goal, the local AI on its own: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30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1440E"/>
                </a:solidFill>
                <a:latin typeface="Calibri"/>
              </a:rPr>
              <a:t>plans the route → avoids obstacles → assesses safety → performs the task → sends a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8A7B6E"/>
                </a:solidFill>
                <a:latin typeface="Calibri"/>
              </a:rPr>
              <a:t>The approach is proven: NASA's rovers have been driven for decades by daily command packages, not a joystick.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ROBOTS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A fleet of specialists instead of one robot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C1440E"/>
                </a:solidFill>
                <a:latin typeface="Calibri"/>
              </a:rPr>
              <a:t>Science rover — </a:t>
            </a:r>
            <a:r>
              <a:rPr sz="1250" b="0">
                <a:solidFill>
                  <a:srgbClr val="2B2520"/>
                </a:solidFill>
                <a:latin typeface="Calibri"/>
              </a:rPr>
              <a:t>geology, drilling, sample collection, ice prospecting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41448"/>
            <a:ext cx="5394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C1440E"/>
                </a:solidFill>
                <a:latin typeface="Calibri"/>
              </a:rPr>
              <a:t>Builder — </a:t>
            </a:r>
            <a:r>
              <a:rPr sz="1250" b="0">
                <a:solidFill>
                  <a:srgbClr val="2B2520"/>
                </a:solidFill>
                <a:latin typeface="Calibri"/>
              </a:rPr>
              <a:t>solar panel installation, module assembly, cabling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9815"/>
            <a:ext cx="5394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C1440E"/>
                </a:solidFill>
                <a:latin typeface="Calibri"/>
              </a:rPr>
              <a:t>Cargo — </a:t>
            </a:r>
            <a:r>
              <a:rPr sz="1250" b="0">
                <a:solidFill>
                  <a:srgbClr val="2B2520"/>
                </a:solidFill>
                <a:latin typeface="Calibri"/>
              </a:rPr>
              <a:t>delivery of equipment, materials, and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8183"/>
            <a:ext cx="5394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C1440E"/>
                </a:solidFill>
                <a:latin typeface="Calibri"/>
              </a:rPr>
              <a:t>Drone — </a:t>
            </a:r>
            <a:r>
              <a:rPr sz="1250" b="0">
                <a:solidFill>
                  <a:srgbClr val="2B2520"/>
                </a:solidFill>
                <a:latin typeface="Calibri"/>
              </a:rPr>
              <a:t>reconnaissance, mapping, finding safe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16551"/>
            <a:ext cx="5394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C1440E"/>
                </a:solidFill>
                <a:latin typeface="Calibri"/>
              </a:rPr>
              <a:t>Laboratory — </a:t>
            </a:r>
            <a:r>
              <a:rPr sz="1250" b="0">
                <a:solidFill>
                  <a:srgbClr val="2B2520"/>
                </a:solidFill>
                <a:latin typeface="Calibri"/>
              </a:rPr>
              <a:t>chemical and biological analysis on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19"/>
            <a:ext cx="5394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C1440E"/>
                </a:solidFill>
                <a:latin typeface="Calibri"/>
              </a:rPr>
              <a:t>Maintenance — </a:t>
            </a:r>
            <a:r>
              <a:rPr sz="1250" b="0">
                <a:solidFill>
                  <a:srgbClr val="2B2520"/>
                </a:solidFill>
                <a:latin typeface="Calibri"/>
              </a:rPr>
              <a:t>diagnostics and repair of the other robots</a:t>
            </a:r>
          </a:p>
        </p:txBody>
      </p:sp>
      <p:pic>
        <p:nvPicPr>
          <p:cNvPr id="11" name="Picture 10" descr="IMG_3839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521208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5262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8A7B6E"/>
                </a:solidFill>
                <a:latin typeface="Calibri"/>
              </a:rPr>
              <a:t>A single Mission AI coordinates the fleet: 1 robot → 10 platforms → hundreds of machines in one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Who decides what: humans stay in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2B2520"/>
                </a:solidFill>
                <a:latin typeface="Calibri"/>
              </a:rPr>
              <a:t>Every action falls into one of three classes — the Human-in-Command principle: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C1440E"/>
                </a:solidFill>
                <a:latin typeface="Calibri"/>
              </a:rPr>
              <a:t>Class A — critical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First drilling of a new rock type, driving a steep slope, irreversible use of a resource.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1">
                <a:solidFill>
                  <a:srgbClr val="8A7B6E"/>
                </a:solidFill>
                <a:latin typeface="Calibri"/>
              </a:rPr>
              <a:t>Approved by the operator on Earth ·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83864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C1440E"/>
                </a:solidFill>
                <a:latin typeface="Calibri"/>
              </a:rPr>
              <a:t>Class B — standard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Route in a surveyed zone, sampling by a validated procedure, charging.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1">
                <a:solidFill>
                  <a:srgbClr val="8A7B6E"/>
                </a:solidFill>
                <a:latin typeface="Calibri"/>
              </a:rPr>
              <a:t>Decided by Mission AI, reported to Earth · seconds–minutes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27448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C1440E"/>
                </a:solidFill>
                <a:latin typeface="Calibri"/>
              </a:rPr>
              <a:t>Class C — internal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Stabilization, thermal control, obstacle avoidance, self-diagnostics.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1">
                <a:solidFill>
                  <a:srgbClr val="8A7B6E"/>
                </a:solidFill>
                <a:latin typeface="Calibri"/>
              </a:rPr>
              <a:t>Platform's onboard AI · milliseconds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8A7B6E"/>
                </a:solidFill>
                <a:latin typeface="Calibri"/>
              </a:rPr>
              <a:t>As trust accumulates, routine moves from Class A to Class B — autonomy grows in a controlled 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Communications: what exists and what brings the leap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C1440E"/>
                </a:solidFill>
                <a:latin typeface="Calibri"/>
              </a:rPr>
              <a:t>Today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2B2520"/>
                </a:solidFill>
                <a:latin typeface="Calibri"/>
              </a:rPr>
              <a:t>The Mars Relay Network (MRO, Odyssey, MAVEN, TGO) already carries almost all rover data to Earth.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01168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C1440E"/>
                </a:solidFill>
                <a:latin typeface="Calibri"/>
              </a:rPr>
              <a:t>267 Mbit/s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2B2520"/>
                </a:solidFill>
                <a:latin typeface="Calibri"/>
              </a:rPr>
              <a:t>demonstrated by NASA's DSOC laser experiment at 31 million km — a ×10–100 gain over radio.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C1440E"/>
                </a:solidFill>
                <a:latin typeface="Calibri"/>
              </a:rPr>
              <a:t>Tomorrow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2B2520"/>
                </a:solidFill>
                <a:latin typeface="Calibri"/>
              </a:rPr>
              <a:t>Streams of 3D maps and video from Mars: telepresence stays delayed, but stops being starved of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241C17"/>
          </a:solidFill>
          <a:ln>
            <a:noFill/>
          </a:ln>
          <a:effectLst/>
        </p:spPr>
        <p:txBody>
          <a:bodyPr rtlCol="0" anchor="ctr" wrap="square" lIns="310896" rIns="310896" tIns="248716" bIns="248716"/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Communications is the project's most mature technology — it can start growing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Not science fiction: the components already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1440E"/>
                </a:solidFill>
                <a:latin typeface="Calibri"/>
              </a:rPr>
              <a:t>88%</a:t>
            </a:r>
          </a:p>
          <a:p>
            <a:pPr algn="l">
              <a:lnSpc>
                <a:spcPct val="114000"/>
              </a:lnSpc>
              <a:spcBef>
                <a:spcPts val="4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of Perseverance's traverse is driven autonomously — AutoNav plans the route itself (NASA)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5394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1440E"/>
                </a:solidFill>
                <a:latin typeface="Calibri"/>
              </a:rPr>
              <a:t>ISS → Earth</a:t>
            </a:r>
          </a:p>
          <a:p>
            <a:pPr algn="l">
              <a:lnSpc>
                <a:spcPct val="114000"/>
              </a:lnSpc>
              <a:spcBef>
                <a:spcPts val="4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in ESA's Analog-1 experiment, an astronaut in orbit operated a rover on Earth, including soil 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39"/>
            <a:ext cx="5394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1440E"/>
                </a:solidFill>
                <a:latin typeface="Calibri"/>
              </a:rPr>
              <a:t>$10M</a:t>
            </a:r>
          </a:p>
          <a:p>
            <a:pPr algn="l">
              <a:lnSpc>
                <a:spcPct val="114000"/>
              </a:lnSpc>
              <a:spcBef>
                <a:spcPts val="4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the ANA Avatar XPRIZE competition proved the maturity of immersive avatar robots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520439"/>
            <a:ext cx="5394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C1440E"/>
                </a:solidFill>
                <a:latin typeface="Calibri"/>
              </a:rPr>
              <a:t>25+ yrs</a:t>
            </a:r>
          </a:p>
          <a:p>
            <a:pPr algn="l">
              <a:lnSpc>
                <a:spcPct val="114000"/>
              </a:lnSpc>
              <a:spcBef>
                <a:spcPts val="4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AI has flown spacecraft autonomously since Deep Space 1 (1999); AEGIS picks science targets on Mars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241C17"/>
          </a:solidFill>
          <a:ln>
            <a:noFill/>
          </a:ln>
          <a:effectLst/>
        </p:spPr>
        <p:txBody>
          <a:bodyPr rtlCol="0" anchor="ctr" wrap="square" lIns="310896" rIns="310896" tIns="248716" bIns="248716"/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The project's novelty is not in individual technologies but in their system integration:</a:t>
            </a:r>
          </a:p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commanding an entire fleet from Earth under full interplanetary delay.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Economics: an order of magnitude cheaper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C1440E"/>
                </a:solidFill>
                <a:latin typeface="Calibri"/>
              </a:rPr>
              <a:t>$14–23B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1300" b="0" i="0">
                <a:solidFill>
                  <a:srgbClr val="2B2520"/>
                </a:solidFill>
                <a:latin typeface="Calibri"/>
              </a:rPr>
              <a:t>a fleet of 10 robots + 2 relays,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B2520"/>
                </a:solidFill>
                <a:latin typeface="Calibri"/>
              </a:rPr>
              <a:t>10+ years of surface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1945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C1440E"/>
                </a:solidFill>
                <a:latin typeface="Calibri"/>
              </a:rPr>
              <a:t>≤ 1 t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1300" b="0" i="0">
                <a:solidFill>
                  <a:srgbClr val="2B2520"/>
                </a:solidFill>
                <a:latin typeface="Calibri"/>
              </a:rPr>
              <a:t>landing mass — a technology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B2520"/>
                </a:solidFill>
                <a:latin typeface="Calibri"/>
              </a:rPr>
              <a:t>already proven by real 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8A7B6E"/>
                </a:solidFill>
                <a:latin typeface="Calibri"/>
              </a:rPr>
              <a:t>≥ $100B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1300" b="0" i="0">
                <a:solidFill>
                  <a:srgbClr val="2B2520"/>
                </a:solidFill>
                <a:latin typeface="Calibri"/>
              </a:rPr>
              <a:t>the lower estimate of a crewed program,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B2520"/>
                </a:solidFill>
                <a:latin typeface="Calibri"/>
              </a:rPr>
              <a:t>~500 days on the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10972800" cy="1325880"/>
          </a:xfrm>
          <a:prstGeom prst="roundRect">
            <a:avLst>
              <a:gd name="adj" fmla="val 8000"/>
            </a:avLst>
          </a:prstGeom>
          <a:solidFill>
            <a:srgbClr val="241C17"/>
          </a:solidFill>
          <a:ln>
            <a:noFill/>
          </a:ln>
          <a:effectLst/>
        </p:spPr>
        <p:txBody>
          <a:bodyPr rtlCol="0" anchor="ctr" wrap="square" lIns="310896" rIns="310896" tIns="248716" bIns="248716"/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An honest caveat: on reaction speed and scientific intuition, humans are unmatched.</a:t>
            </a:r>
          </a:p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FE4DA"/>
                </a:solidFill>
                <a:latin typeface="Calibri"/>
              </a:rPr>
              <a:t>So the project is not a replacement for people — it makes their arrival cheaper and safer.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Roadmap: five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84831" cy="30632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164592" rIns="164592" tIns="131673" bIns="131673"/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C1440E"/>
                </a:solidFill>
                <a:latin typeface="Calibri"/>
              </a:rPr>
              <a:t>I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Earth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2026–2030 · prototype: real robots, artificial 20–30 min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9191" y="312724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0944" y="1828800"/>
            <a:ext cx="2084831" cy="30632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164592" rIns="164592" tIns="131673" bIns="131673"/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C1440E"/>
                </a:solidFill>
                <a:latin typeface="Calibri"/>
              </a:rPr>
              <a:t>II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Moon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2030–2035 · testing closer to home: multiple robots, construction, endurance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0055" y="312724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21807" y="1828800"/>
            <a:ext cx="2084831" cy="3063240"/>
          </a:xfrm>
          <a:prstGeom prst="roundRect">
            <a:avLst>
              <a:gd name="adj" fmla="val 8000"/>
            </a:avLst>
          </a:prstGeom>
          <a:solidFill>
            <a:srgbClr val="F3D9C8"/>
          </a:solidFill>
          <a:ln>
            <a:noFill/>
          </a:ln>
          <a:effectLst/>
        </p:spPr>
        <p:txBody>
          <a:bodyPr rtlCol="0" anchor="t" wrap="square" lIns="164592" rIns="164592" tIns="131673" bIns="131673"/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C1440E"/>
                </a:solidFill>
                <a:latin typeface="Calibri"/>
              </a:rPr>
              <a:t>III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Mars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2035–2045 · first missions: landing pads, power, scouting base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9" y="312724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1" y="1828800"/>
            <a:ext cx="2084831" cy="30632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164592" rIns="164592" tIns="131673" bIns="131673"/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C1440E"/>
                </a:solidFill>
                <a:latin typeface="Calibri"/>
              </a:rPr>
              <a:t>IV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Infrastructure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a network of stations, depots and labs — a robotic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1783" y="312724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C1440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03535" y="1828800"/>
            <a:ext cx="2084831" cy="306324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t" wrap="square" lIns="164592" rIns="164592" tIns="131673" bIns="131673"/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C1440E"/>
                </a:solidFill>
                <a:latin typeface="Calibri"/>
              </a:rPr>
              <a:t>V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600" b="1" i="0">
                <a:solidFill>
                  <a:srgbClr val="C1440E"/>
                </a:solidFill>
                <a:latin typeface="Calibri"/>
              </a:rPr>
              <a:t>Humans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0">
                <a:solidFill>
                  <a:srgbClr val="2B2520"/>
                </a:solidFill>
                <a:latin typeface="Calibri"/>
              </a:rPr>
              <a:t>crews arrive in a partially prepared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8A7B6E"/>
                </a:solidFill>
                <a:latin typeface="Calibri"/>
              </a:rPr>
              <a:t>Each stage begins only after the previous one is verified —</a:t>
            </a:r>
          </a:p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8A7B6E"/>
                </a:solidFill>
                <a:latin typeface="Calibri"/>
              </a:rPr>
              <a:t>reducing risks and inflated expectations.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C1440E"/>
                </a:solidFill>
                <a:latin typeface="Calibr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2B2520"/>
                </a:solidFill>
                <a:latin typeface="Calibri"/>
              </a:rPr>
              <a:t>Risks and the principle of engineering honesty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2B2520"/>
                </a:solidFill>
                <a:latin typeface="Calibri"/>
              </a:rPr>
              <a:t>The project openly grades its technologies by maturity: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6ECE4"/>
          </a:solidFill>
          <a:ln>
            <a:noFill/>
          </a:ln>
          <a:effectLst/>
        </p:spPr>
        <p:txBody>
          <a:bodyPr rtlCol="0" anchor="ctr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C1440E"/>
                </a:solidFill>
                <a:latin typeface="Calibri"/>
              </a:rPr>
              <a:t>Available today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rovers, relay satellites, autonomous navigation, deep-space links — proven in real 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64992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3D9C8"/>
          </a:solidFill>
          <a:ln>
            <a:noFill/>
          </a:ln>
          <a:effectLst/>
        </p:spPr>
        <p:txBody>
          <a:bodyPr rtlCol="0" anchor="ctr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C1440E"/>
                </a:solidFill>
                <a:latin typeface="Calibri"/>
              </a:rPr>
              <a:t>Projected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fleet coordination under one Mission AI, laser links at Mars, growing autonomy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89704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EFECE9"/>
          </a:solidFill>
          <a:ln>
            <a:noFill/>
          </a:ln>
          <a:effectLst/>
        </p:spPr>
        <p:txBody>
          <a:bodyPr rtlCol="0" anchor="ctr" wrap="square" lIns="237744" rIns="237744" tIns="190195" bIns="190195"/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8A7B6E"/>
                </a:solidFill>
                <a:latin typeface="Calibri"/>
              </a:rPr>
              <a:t>Needs breakthroughs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250" b="0" i="0">
                <a:solidFill>
                  <a:srgbClr val="2B2520"/>
                </a:solidFill>
                <a:latin typeface="Calibri"/>
              </a:rPr>
              <a:t>full telepresence, high-performance brain–computer interfaces — long-term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0136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1">
                <a:solidFill>
                  <a:srgbClr val="8A7B6E"/>
                </a:solidFill>
                <a:latin typeface="Calibri"/>
              </a:rPr>
              <a:t>The main risks are hardware wear, dust, power, and AI errors. The project's answer: redundancy,</a:t>
            </a:r>
          </a:p>
          <a:p>
            <a:pPr algn="l">
              <a:lnSpc>
                <a:spcPct val="118000"/>
              </a:lnSpc>
            </a:pPr>
            <a:r>
              <a:rPr sz="1350" b="0" i="1">
                <a:solidFill>
                  <a:srgbClr val="8A7B6E"/>
                </a:solidFill>
                <a:latin typeface="Calibri"/>
              </a:rPr>
              <a:t>modularity, a safe mode on loss of link, and stage-by-stage verification of every hypothesis.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spc="250">
                <a:solidFill>
                  <a:srgbClr val="8A7B6E"/>
                </a:solidFill>
                <a:latin typeface="Calibri"/>
              </a:rPr>
              <a:t>MARS AVATAR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A7B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300">
                <a:solidFill>
                  <a:srgbClr val="E8863A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essence in three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17904"/>
            <a:ext cx="822960" cy="4572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332922"/>
          </a:solidFill>
          <a:ln>
            <a:noFill/>
          </a:ln>
          <a:effectLst/>
        </p:spPr>
        <p:txBody>
          <a:bodyPr rtlCol="0" anchor="ctr" wrap="square" lIns="256032" rIns="256032" tIns="204825" bIns="204825"/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E8863A"/>
                </a:solidFill>
                <a:latin typeface="Calibri"/>
              </a:rPr>
              <a:t>Humans decide.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350" b="0" i="0">
                <a:solidFill>
                  <a:srgbClr val="EFE4DA"/>
                </a:solidFill>
                <a:latin typeface="Calibri"/>
              </a:rPr>
              <a:t>Goals, priorities, and critical actions always stay with the operator on Earth.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90672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332922"/>
          </a:solidFill>
          <a:ln>
            <a:noFill/>
          </a:ln>
          <a:effectLst/>
        </p:spPr>
        <p:txBody>
          <a:bodyPr rtlCol="0" anchor="ctr" wrap="square" lIns="256032" rIns="256032" tIns="204825" bIns="204825"/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E8863A"/>
                </a:solidFill>
                <a:latin typeface="Calibri"/>
              </a:rPr>
              <a:t>AI executes.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350" b="0" i="0">
                <a:solidFill>
                  <a:srgbClr val="EFE4DA"/>
                </a:solidFill>
                <a:latin typeface="Calibri"/>
              </a:rPr>
              <a:t>Autonomy is the only way to work with a 4–22 minute delay.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61104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332922"/>
          </a:solidFill>
          <a:ln>
            <a:noFill/>
          </a:ln>
          <a:effectLst/>
        </p:spPr>
        <p:txBody>
          <a:bodyPr rtlCol="0" anchor="ctr" wrap="square" lIns="256032" rIns="256032" tIns="204825" bIns="204825"/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E8863A"/>
                </a:solidFill>
                <a:latin typeface="Calibri"/>
              </a:rPr>
              <a:t>Robots are present.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350" b="0" i="0">
                <a:solidFill>
                  <a:srgbClr val="EFE4DA"/>
                </a:solidFill>
                <a:latin typeface="Calibri"/>
              </a:rPr>
              <a:t>A fleet of avatars explores and builds — preparing Mars for humans to arrive safely.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1">
                <a:solidFill>
                  <a:srgbClr val="8A7B6E"/>
                </a:solidFill>
                <a:latin typeface="Calibri"/>
              </a:rPr>
              <a:t>“The future of planetary exploration may depend not only on where humans can travel,</a:t>
            </a:r>
          </a:p>
          <a:p>
            <a:pPr algn="l">
              <a:lnSpc>
                <a:spcPct val="118000"/>
              </a:lnSpc>
            </a:pPr>
            <a:r>
              <a:rPr sz="1250" b="0" i="1">
                <a:solidFill>
                  <a:srgbClr val="8A7B6E"/>
                </a:solidFill>
                <a:latin typeface="Calibri"/>
              </a:rPr>
              <a:t>but on how effectively human intelligence can be extended through intelligent machines.”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C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3837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